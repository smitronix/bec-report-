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0"/>
            <a:ext cx="1005840" cy="1005840"/>
          </a:xfrm>
          <a:prstGeom prst="rtTriangle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11185855" y="5852160"/>
            <a:ext cx="1005840" cy="1005840"/>
          </a:xfrm>
          <a:prstGeom prst="rtTriangle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"/>
            <a:ext cx="43891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43584" y="219456"/>
            <a:ext cx="59436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4B4B"/>
                </a:solidFill>
              </a:defRPr>
            </a:pPr>
            <a:r>
              <a:t>D Y PATIL DEEMED TO BE UNIVERSITY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RAMRAO ADIK INSTITUTE OF TECHNOLOGY (RAIT)</a:t>
            </a:r>
          </a:p>
          <a:p>
            <a:pPr>
              <a:defRPr sz="800" b="1">
                <a:solidFill>
                  <a:srgbClr val="94A3B8"/>
                </a:solidFill>
              </a:defRPr>
            </a:pPr>
            <a:r>
              <a:t>DEPARTMENT OF COMPUTER ENGINEERING • NAVI MUMBAI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92608"/>
            <a:ext cx="3566160" cy="329184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4B4B"/>
                </a:solidFill>
              </a:defRPr>
            </a:pPr>
            <a:r>
              <a:t>LEARN • INNOVATE • GROW • BELONG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932688"/>
            <a:ext cx="10728655" cy="13716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24128"/>
            <a:ext cx="62179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FF4B4B"/>
                </a:solidFill>
              </a:defRPr>
            </a:pPr>
            <a:r>
              <a:t>A TECHNICAL SEMINAR REPORT ON</a:t>
            </a:r>
          </a:p>
          <a:p>
            <a:pPr>
              <a:defRPr sz="1650" b="1">
                <a:solidFill>
                  <a:srgbClr val="FFFFFF"/>
                </a:solidFill>
              </a:defRPr>
            </a:pPr>
            <a:r>
              <a:t>AUGMENTED REALITY (AR) AND VIRTUAL REALITY (VR) IN TOURISM</a:t>
            </a:r>
          </a:p>
          <a:p>
            <a:pPr>
              <a:defRPr sz="900" b="1">
                <a:solidFill>
                  <a:srgbClr val="00D2FF"/>
                </a:solidFill>
              </a:defRPr>
            </a:pPr>
            <a:r>
              <a:t>TRANSFORMING TRAVEL EXPERIENCES THROUGH IMMERSIVE TECHNOLOGY</a:t>
            </a:r>
          </a:p>
          <a:p>
            <a:pPr>
              <a:defRPr sz="850">
                <a:solidFill>
                  <a:srgbClr val="FF4B4B"/>
                </a:solidFill>
              </a:defRPr>
            </a:pPr>
            <a:r>
              <a:t>Business English and Communication (BEC) | Semester III | Academic Year 2026–2027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04288"/>
            <a:ext cx="6217920" cy="237744"/>
          </a:xfrm>
          <a:prstGeom prst="roundRect">
            <a:avLst/>
          </a:prstGeom>
          <a:solidFill>
            <a:srgbClr val="0F1E38"/>
          </a:solidFill>
          <a:ln w="1016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00" b="1">
                <a:solidFill>
                  <a:srgbClr val="FF4B4B"/>
                </a:solidFill>
              </a:defRPr>
            </a:pPr>
            <a:r>
              <a:t>EXPLORE • EXPERIENCE • DISCOVER • BEYOND REALITY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33472"/>
            <a:ext cx="6217920" cy="210312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STUDENT RESEARCH TEAM: GROUP A3 - 2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6 MEMBERS | RAIT COMP ENGG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F4B4B"/>
                </a:solidFill>
              </a:rPr>
              <a:t>Soham Jadhav (25CE1047): </a:t>
            </a:r>
            <a:r>
              <a:rPr b="0" sz="850">
                <a:solidFill>
                  <a:srgbClr val="CBD5E1"/>
                </a:solidFill>
              </a:rPr>
              <a:t>Team Lead, System Architecture &amp; Cloud-XR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F4B4B"/>
                </a:solidFill>
              </a:rPr>
              <a:t>Prachi Jaiswal (25CE1048): </a:t>
            </a:r>
            <a:r>
              <a:rPr b="0" sz="850">
                <a:solidFill>
                  <a:srgbClr val="CBD5E1"/>
                </a:solidFill>
              </a:rPr>
              <a:t>Computer Vision &amp; VI-SLAM Sensor Fusion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F4B4B"/>
                </a:solidFill>
              </a:rPr>
              <a:t>Soham Jangid (25CE1049): </a:t>
            </a:r>
            <a:r>
              <a:rPr b="0" sz="850">
                <a:solidFill>
                  <a:srgbClr val="CBD5E1"/>
                </a:solidFill>
              </a:rPr>
              <a:t>3D Gaussian Splatting &amp; Heritage Modeling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F4B4B"/>
                </a:solidFill>
              </a:rPr>
              <a:t>Somnath Jha (25CE1050): </a:t>
            </a:r>
            <a:r>
              <a:rPr b="0" sz="850">
                <a:solidFill>
                  <a:srgbClr val="CBD5E1"/>
                </a:solidFill>
              </a:rPr>
              <a:t>Spatial UI/UX &amp; Cybersickness Analysis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F4B4B"/>
                </a:solidFill>
              </a:rPr>
              <a:t>Asmit Jogdand (25CE1051): </a:t>
            </a:r>
            <a:r>
              <a:rPr b="0" sz="850">
                <a:solidFill>
                  <a:srgbClr val="CBD5E1"/>
                </a:solidFill>
              </a:rPr>
              <a:t>Field Trials &amp; Mumbai Geospatial VPS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F4B4B"/>
                </a:solidFill>
              </a:rPr>
              <a:t>Om Kirdat (25CE1053): </a:t>
            </a:r>
            <a:r>
              <a:rPr b="0" sz="850">
                <a:solidFill>
                  <a:srgbClr val="CBD5E1"/>
                </a:solidFill>
              </a:rPr>
              <a:t>GenAI Architecture &amp; Multimodal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9744"/>
            <a:ext cx="6217920" cy="11430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050" b="1">
                <a:solidFill>
                  <a:srgbClr val="FFFFFF"/>
                </a:solidFill>
              </a:defRPr>
            </a:pPr>
            <a:r>
              <a:t>ACADEMIC MENTORSHIP &amp; LEADERSHIP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FACULTY GOVERNANCE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D2FF"/>
                </a:solidFill>
              </a:rPr>
              <a:t>Faculty Guide: Mrs. Nisha Narwani: </a:t>
            </a:r>
            <a:r>
              <a:rPr b="0" sz="850">
                <a:solidFill>
                  <a:srgbClr val="CBD5E1"/>
                </a:solidFill>
              </a:rPr>
              <a:t>Assistant Professor, Dept. of Computer Engineering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D2FF"/>
                </a:solidFill>
              </a:rPr>
              <a:t>Head of Department: Dr. Amarsinh V. Vidhate: </a:t>
            </a:r>
            <a:r>
              <a:rPr b="0" sz="850">
                <a:solidFill>
                  <a:srgbClr val="CBD5E1"/>
                </a:solidFill>
              </a:rPr>
              <a:t>Professor &amp; Head, Dept. of Computer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024128"/>
            <a:ext cx="4279392" cy="4928616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ero_poster_dypat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069848"/>
            <a:ext cx="4187952" cy="483717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6035040"/>
            <a:ext cx="10728655" cy="34747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850" b="1">
                <a:solidFill>
                  <a:srgbClr val="FF4B4B"/>
                </a:solidFill>
              </a:defRPr>
            </a:pPr>
            <a:r>
              <a:t>◆ IMMERSIVE (6DoF Radiance)   |   ◆ INTERACTIVE (Real-Time VPS)   |   ◆ SUSTAINABLE (Footfall Offload)   |   ◆ INCLUSIVE (Remote Access)   |   ACADEMIC YEAR 2026–2027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01 | CONCEPTUAL FOUNDATIONS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What is Spatial Computing in Tourism?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Moving from static physical guidebooks to real-time, context-aware digital immersion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2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3337560" cy="38862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Augmented Reality (AR)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REAL-WORLD OPTICAL OVERLAY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00D2FF"/>
                </a:solidFill>
              </a:rPr>
              <a:t>Core Paradigm: </a:t>
            </a:r>
            <a:r>
              <a:rPr b="0" sz="919">
                <a:solidFill>
                  <a:srgbClr val="CBD5E1"/>
                </a:solidFill>
              </a:rPr>
              <a:t>Superimposes real-time computer-generated graphics and metadata directly onto the physical environment.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00D2FF"/>
                </a:solidFill>
              </a:rPr>
              <a:t>Optics: </a:t>
            </a:r>
            <a:r>
              <a:rPr b="0" sz="919">
                <a:solidFill>
                  <a:srgbClr val="CBD5E1"/>
                </a:solidFill>
              </a:rPr>
              <a:t>Waveguide optical see-through (OST) or high-speed video see-through (VST) preserving direct user vision.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00D2FF"/>
                </a:solidFill>
              </a:rPr>
              <a:t>Tourism Utility: </a:t>
            </a:r>
            <a:r>
              <a:rPr b="0" sz="919">
                <a:solidFill>
                  <a:srgbClr val="CBD5E1"/>
                </a:solidFill>
              </a:rPr>
              <a:t>Living historical overlays, 3D monument reconstruction, in-situ directional wayfinding HUDs, and multilingual translation.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00D2FF"/>
                </a:solidFill>
              </a:rPr>
              <a:t>Target Devices: </a:t>
            </a:r>
            <a:r>
              <a:rPr b="0" sz="919">
                <a:solidFill>
                  <a:srgbClr val="CBD5E1"/>
                </a:solidFill>
              </a:rPr>
              <a:t>Apple Vision Pro, XREAL Air 2, ARCore/ARKit smartphones.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00D2FF"/>
                </a:solidFill>
              </a:rPr>
              <a:t>Key Benefit: </a:t>
            </a:r>
            <a:r>
              <a:rPr b="0" sz="919">
                <a:solidFill>
                  <a:srgbClr val="CBD5E1"/>
                </a:solidFill>
              </a:rPr>
              <a:t>Maintains 100% environmental awareness and situational safety while traveling in unfamiliar cities.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508760"/>
            <a:ext cx="3337560" cy="38862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Virtual Reality (VR)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COMPLETE SYNTHETIC IMMERSION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F4B4B"/>
                </a:solidFill>
              </a:rPr>
              <a:t>Core Paradigm: </a:t>
            </a:r>
            <a:r>
              <a:rPr b="0" sz="919">
                <a:solidFill>
                  <a:srgbClr val="CBD5E1"/>
                </a:solidFill>
              </a:rPr>
              <a:t>Replaces physical reality entirely with an immersive, interactive 3D synthetic digital environment.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F4B4B"/>
                </a:solidFill>
              </a:rPr>
              <a:t>Optics: </a:t>
            </a:r>
            <a:r>
              <a:rPr b="0" sz="919">
                <a:solidFill>
                  <a:srgbClr val="CBD5E1"/>
                </a:solidFill>
              </a:rPr>
              <a:t>High-PPD dual stereoscopic displays with Pancake lenses blocking external ambient photons.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F4B4B"/>
                </a:solidFill>
              </a:rPr>
              <a:t>Tourism Utility: </a:t>
            </a:r>
            <a:r>
              <a:rPr b="0" sz="919">
                <a:solidFill>
                  <a:srgbClr val="CBD5E1"/>
                </a:solidFill>
              </a:rPr>
              <a:t>'Try-Before-You-Fly' destination previews, 6DoF remote museum walkthroughs, and fragile heritage exploration.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F4B4B"/>
                </a:solidFill>
              </a:rPr>
              <a:t>Target Devices: </a:t>
            </a:r>
            <a:r>
              <a:rPr b="0" sz="919">
                <a:solidFill>
                  <a:srgbClr val="CBD5E1"/>
                </a:solidFill>
              </a:rPr>
              <a:t>Meta Quest 3, HTC Vive Focus Vision, PlayStation VR2.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F4B4B"/>
                </a:solidFill>
              </a:rPr>
              <a:t>Key Benefit: </a:t>
            </a:r>
            <a:r>
              <a:rPr b="0" sz="919">
                <a:solidFill>
                  <a:srgbClr val="CBD5E1"/>
                </a:solidFill>
              </a:rPr>
              <a:t>Enables complete spatial and temporal teleportation to global landmarks without physical travel.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508760"/>
            <a:ext cx="3337560" cy="38862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</a:defRPr>
            </a:pPr>
            <a:r>
              <a:t>Mixed Reality (MR / Spatial)</a:t>
            </a:r>
          </a:p>
          <a:p>
            <a:pPr>
              <a:spcAft>
                <a:spcPts val="400"/>
              </a:spcAft>
              <a:defRPr sz="819" b="1">
                <a:solidFill>
                  <a:srgbClr val="F59E0B"/>
                </a:solidFill>
              </a:defRPr>
            </a:pPr>
            <a:r>
              <a:t>PHYSICAL-DIGITAL CONVERGENCE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59E0B"/>
                </a:solidFill>
              </a:rPr>
              <a:t>Core Paradigm: </a:t>
            </a:r>
            <a:r>
              <a:rPr b="0" sz="919">
                <a:solidFill>
                  <a:srgbClr val="CBD5E1"/>
                </a:solidFill>
              </a:rPr>
              <a:t>Real and virtual elements coexist and interact in real time with mutual occlusion and environmental physics.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59E0B"/>
                </a:solidFill>
              </a:rPr>
              <a:t>Perception: </a:t>
            </a:r>
            <a:r>
              <a:rPr b="0" sz="919">
                <a:solidFill>
                  <a:srgbClr val="CBD5E1"/>
                </a:solidFill>
              </a:rPr>
              <a:t>Real-time LiDAR depth scanning, plane detection, dynamic lighting estimation, and human segmentation.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59E0B"/>
                </a:solidFill>
              </a:rPr>
              <a:t>Tourism Utility: </a:t>
            </a:r>
            <a:r>
              <a:rPr b="0" sz="919">
                <a:solidFill>
                  <a:srgbClr val="CBD5E1"/>
                </a:solidFill>
              </a:rPr>
              <a:t>Multi-user collaborative holographic tours, persistent spatial anchors across historical ruins.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59E0B"/>
                </a:solidFill>
              </a:rPr>
              <a:t>Target Devices: </a:t>
            </a:r>
            <a:r>
              <a:rPr b="0" sz="919">
                <a:solidFill>
                  <a:srgbClr val="CBD5E1"/>
                </a:solidFill>
              </a:rPr>
              <a:t>Apple Vision Pro, Magic Leap 2, Enterprise Spatial Computers.</a:t>
            </a:r>
          </a:p>
          <a:p>
            <a:pPr>
              <a:spcAft>
                <a:spcPts val="300"/>
              </a:spcAft>
            </a:pPr>
            <a:r>
              <a:rPr b="1" sz="919">
                <a:solidFill>
                  <a:srgbClr val="F59E0B"/>
                </a:solidFill>
              </a:rPr>
              <a:t>Key Benefit: </a:t>
            </a:r>
            <a:r>
              <a:rPr b="0" sz="919">
                <a:solidFill>
                  <a:srgbClr val="CBD5E1"/>
                </a:solidFill>
              </a:rPr>
              <a:t>Virtual artifacts cast photorealistic shadows and occlude behind physical stone pillars naturally.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32120"/>
            <a:ext cx="3337560" cy="749808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+68% Wayfinding Speed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AR visual positioning eliminates transit confusion in major hubs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5532120"/>
            <a:ext cx="3337560" cy="749808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FF4B4B"/>
                </a:solidFill>
              </a:defRPr>
            </a:pPr>
            <a:r>
              <a:t>42% Higher Booking Lift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Pre-trip VR room &amp; excursion previews boost traveler confidence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5532120"/>
            <a:ext cx="3337560" cy="749808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&lt;20ms M2P Latency Ceiling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Strict motion-to-photon threshold required to eliminate cybersickness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02 | EVOLUTION &amp; THEORETICAL TAXONOMY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Evolutionary Milestones &amp; Milgram's Continuum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Taxonomizing real vs. virtual environments from Ivan Sutherland (1968) to modern Spatial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3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107286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_milgram_continu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7048"/>
            <a:ext cx="10692079" cy="20665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The Pioneer Era (1968–1994)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OPTICAL SEED &amp; TAXONOMY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1968 — Sword of Damocles: </a:t>
            </a:r>
            <a:r>
              <a:rPr b="0" sz="900">
                <a:solidFill>
                  <a:srgbClr val="CBD5E1"/>
                </a:solidFill>
              </a:rPr>
              <a:t>Ivan Sutherland invents the first head-mounted 3D display with mechanical tracking.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1994 — Milgram Continuum: </a:t>
            </a:r>
            <a:r>
              <a:rPr b="0" sz="900">
                <a:solidFill>
                  <a:srgbClr val="CBD5E1"/>
                </a:solidFill>
              </a:rPr>
              <a:t>Paul Milgram &amp; Fumio Kishino define the Reality-Virtuality spectrum spanning Real, AR, AV, and VR.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Early Constraints: </a:t>
            </a:r>
            <a:r>
              <a:rPr b="0" sz="900">
                <a:solidFill>
                  <a:srgbClr val="CBD5E1"/>
                </a:solidFill>
              </a:rPr>
              <a:t>Bulky laboratory rigs, high weight (&gt;2kg), severe latency, and wire-tethered tracking restricted consumer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Mobile AR Revolution (2014–2020)</a:t>
            </a:r>
          </a:p>
          <a:p>
            <a:pPr>
              <a:spcAft>
                <a:spcPts val="400"/>
              </a:spcAft>
              <a:defRPr sz="819" b="1">
                <a:solidFill>
                  <a:srgbClr val="F59E0B"/>
                </a:solidFill>
              </a:defRPr>
            </a:pPr>
            <a:r>
              <a:t>CONSUMER SENSOR FUSION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59E0B"/>
                </a:solidFill>
              </a:rPr>
              <a:t>Sensor Integration: </a:t>
            </a:r>
            <a:r>
              <a:rPr b="0" sz="900">
                <a:solidFill>
                  <a:srgbClr val="CBD5E1"/>
                </a:solidFill>
              </a:rPr>
              <a:t>Modern smartphones integrated multi-camera arrays, IMU gyroscopes, and dedicated neural processors.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59E0B"/>
                </a:solidFill>
              </a:rPr>
              <a:t>ARCore &amp; ARKit: </a:t>
            </a:r>
            <a:r>
              <a:rPr b="0" sz="900">
                <a:solidFill>
                  <a:srgbClr val="CBD5E1"/>
                </a:solidFill>
              </a:rPr>
              <a:t>Google &amp; Apple introduce monocular Visual Odometry and plane detection to &gt;1.5 billion consumer devices.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59E0B"/>
                </a:solidFill>
              </a:rPr>
              <a:t>Tourism Inception: </a:t>
            </a:r>
            <a:r>
              <a:rPr b="0" sz="900">
                <a:solidFill>
                  <a:srgbClr val="CBD5E1"/>
                </a:solidFill>
              </a:rPr>
              <a:t>Location-based tourism apps, museum indoor wayfinding, and interactive cultural site exhibits emerged worldwide.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Spatial Computing Era (2024–2027+)</a:t>
            </a:r>
          </a:p>
          <a:p>
            <a:pPr>
              <a:spcAft>
                <a:spcPts val="400"/>
              </a:spcAft>
              <a:defRPr sz="819" b="1">
                <a:solidFill>
                  <a:srgbClr val="10B981"/>
                </a:solidFill>
              </a:defRPr>
            </a:pPr>
            <a:r>
              <a:t>RADIANCE FIELDS &amp; 5G MEC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Spatial Passthrough: </a:t>
            </a:r>
            <a:r>
              <a:rPr b="0" sz="900">
                <a:solidFill>
                  <a:srgbClr val="CBD5E1"/>
                </a:solidFill>
              </a:rPr>
              <a:t>Apple Vision Pro and Meta Quest 3 achieve sub-millimeter 3D spatial meshing and real-time hand-eye tracking.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3D Radiance Fields: </a:t>
            </a:r>
            <a:r>
              <a:rPr b="0" sz="900">
                <a:solidFill>
                  <a:srgbClr val="CBD5E1"/>
                </a:solidFill>
              </a:rPr>
              <a:t>3D Gaussian Splatting and NeRFs enable real-time 120 FPS photorealistic rendering of cultural monuments.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Cloud-XR &amp; 5G MEC: </a:t>
            </a:r>
            <a:r>
              <a:rPr b="0" sz="900">
                <a:solidFill>
                  <a:srgbClr val="CBD5E1"/>
                </a:solidFill>
              </a:rPr>
              <a:t>Offloads heavy rendering to edge nodes, enabling featherweight all-day smart eyewear.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03 | DEEP TECHNICAL ARCHITECTURE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Technologies Powering XR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Multi-sensor perception, 6DoF SLAM tracking, and high-fidelity 3D radiance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4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107286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2_slam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7048"/>
            <a:ext cx="10692079" cy="20665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3794760"/>
            <a:ext cx="251460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Visual-Inertial SLAM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6DOF POSE TRACKING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Sensor Fusion: </a:t>
            </a:r>
            <a:r>
              <a:rPr b="0" sz="880">
                <a:solidFill>
                  <a:srgbClr val="CBD5E1"/>
                </a:solidFill>
              </a:rPr>
              <a:t>Tightly couples 1000 Hz IMU inertial data with 60 Hz stereo camera visual frames.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EKF &amp; Factor Graphs: </a:t>
            </a:r>
            <a:r>
              <a:rPr b="0" sz="880">
                <a:solidFill>
                  <a:srgbClr val="CBD5E1"/>
                </a:solidFill>
              </a:rPr>
              <a:t>Optimizes pose trajectories with sub-centimeter accuracy.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Loop Closure: </a:t>
            </a:r>
            <a:r>
              <a:rPr b="0" sz="880">
                <a:solidFill>
                  <a:srgbClr val="CBD5E1"/>
                </a:solidFill>
              </a:rPr>
              <a:t>Detects visited keyframes to cancel cumulative sensor drift.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3794760"/>
            <a:ext cx="251460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LiDAR &amp; ToF Sensing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INSTANT DEPTH MESHING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Time-of-Flight: </a:t>
            </a:r>
            <a:r>
              <a:rPr b="0" sz="880">
                <a:solidFill>
                  <a:srgbClr val="CBD5E1"/>
                </a:solidFill>
              </a:rPr>
              <a:t>Nanosecond pulsed infrared laser arrays calculate precise millimetric surface distances.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Dynamic Occlusion: </a:t>
            </a:r>
            <a:r>
              <a:rPr b="0" sz="880">
                <a:solidFill>
                  <a:srgbClr val="CBD5E1"/>
                </a:solidFill>
              </a:rPr>
              <a:t>Allows real tourists to physically occlude virtual elements naturally.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Night Operation: </a:t>
            </a:r>
            <a:r>
              <a:rPr b="0" sz="880">
                <a:solidFill>
                  <a:srgbClr val="CBD5E1"/>
                </a:solidFill>
              </a:rPr>
              <a:t>Enables robust spatial mapping in low-light evening tourism.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94760"/>
            <a:ext cx="251460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3D Gaussian Splatting</a:t>
            </a:r>
          </a:p>
          <a:p>
            <a:pPr>
              <a:spcAft>
                <a:spcPts val="400"/>
              </a:spcAft>
              <a:defRPr sz="819" b="1">
                <a:solidFill>
                  <a:srgbClr val="F59E0B"/>
                </a:solidFill>
              </a:defRPr>
            </a:pPr>
            <a:r>
              <a:t>REAL-TIME PHOTOREALISM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59E0B"/>
                </a:solidFill>
              </a:rPr>
              <a:t>Differentiable Splats: </a:t>
            </a:r>
            <a:r>
              <a:rPr b="0" sz="880">
                <a:solidFill>
                  <a:srgbClr val="CBD5E1"/>
                </a:solidFill>
              </a:rPr>
              <a:t>Represents complex heritage monuments using millions of 3D ellipsoids.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59E0B"/>
                </a:solidFill>
              </a:rPr>
              <a:t>120+ FPS Rendering: </a:t>
            </a:r>
            <a:r>
              <a:rPr b="0" sz="880">
                <a:solidFill>
                  <a:srgbClr val="CBD5E1"/>
                </a:solidFill>
              </a:rPr>
              <a:t>Bypasses slow neural network inference for instant rasterization.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59E0B"/>
                </a:solidFill>
              </a:rPr>
              <a:t>Millimeter Precision: </a:t>
            </a:r>
            <a:r>
              <a:rPr b="0" sz="880">
                <a:solidFill>
                  <a:srgbClr val="CBD5E1"/>
                </a:solidFill>
              </a:rPr>
              <a:t>Preserves intricate stone carvings and historical textures.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3794760"/>
            <a:ext cx="251460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5G MEC Split-Rendering</a:t>
            </a:r>
          </a:p>
          <a:p>
            <a:pPr>
              <a:spcAft>
                <a:spcPts val="400"/>
              </a:spcAft>
              <a:defRPr sz="819" b="1">
                <a:solidFill>
                  <a:srgbClr val="10B981"/>
                </a:solidFill>
              </a:defRPr>
            </a:pPr>
            <a:r>
              <a:t>CLOUD-EDGE COMPUTE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Distributed GPUs: </a:t>
            </a:r>
            <a:r>
              <a:rPr b="0" sz="880">
                <a:solidFill>
                  <a:srgbClr val="CBD5E1"/>
                </a:solidFill>
              </a:rPr>
              <a:t>Renders 100M+ polygon models on edge servers in real time.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&lt;5ms 5G URLLC: </a:t>
            </a:r>
            <a:r>
              <a:rPr b="0" sz="880">
                <a:solidFill>
                  <a:srgbClr val="CBD5E1"/>
                </a:solidFill>
              </a:rPr>
              <a:t>Ultra-low latency wireless video streaming to headsets.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Lightweight Form: </a:t>
            </a:r>
            <a:r>
              <a:rPr b="0" sz="880">
                <a:solidFill>
                  <a:srgbClr val="CBD5E1"/>
                </a:solidFill>
              </a:rPr>
              <a:t>Decouples battery weight and heat from wearable glasses.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04 | VALUE PROPOSITION &amp; USER JOURNEY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Transforming the Complete Tourist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Strategic value drivers across pre-trip inspiration, on-site discovery, and post-trip preservation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5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107286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0_tourist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7048"/>
            <a:ext cx="10692079" cy="20665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Pre-Trip: 'Try-Before-You-Fly'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INSPIRATION &amp; CONVERSION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Virtual Previews: </a:t>
            </a:r>
            <a:r>
              <a:rPr b="0" sz="900">
                <a:solidFill>
                  <a:srgbClr val="CBD5E1"/>
                </a:solidFill>
              </a:rPr>
              <a:t>Immersive 360° VR destination tours, interactive 3D hotel suite and cruise exploration.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Anxiety Elimination: </a:t>
            </a:r>
            <a:r>
              <a:rPr b="0" sz="900">
                <a:solidFill>
                  <a:srgbClr val="CBD5E1"/>
                </a:solidFill>
              </a:rPr>
              <a:t>Allows travelers to inspect accessibility ramps, room views, and transit connections.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Higher Conversion: </a:t>
            </a:r>
            <a:r>
              <a:rPr b="0" sz="900">
                <a:solidFill>
                  <a:srgbClr val="CBD5E1"/>
                </a:solidFill>
              </a:rPr>
              <a:t>Hotels and resorts report a 42% lift in direct bookings and a 35% reduction in cancellations.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During Trip: In-Situ Augmentation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NAVIGATION &amp; LIVING HISTORY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F4B4B"/>
                </a:solidFill>
              </a:rPr>
              <a:t>Spatial HUD Navigation: </a:t>
            </a:r>
            <a:r>
              <a:rPr b="0" sz="900">
                <a:solidFill>
                  <a:srgbClr val="CBD5E1"/>
                </a:solidFill>
              </a:rPr>
              <a:t>Holographic arrows projected directly onto roadways guide visitors through complex cities.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F4B4B"/>
                </a:solidFill>
              </a:rPr>
              <a:t>Temporal Reconstruction: </a:t>
            </a:r>
            <a:r>
              <a:rPr b="0" sz="900">
                <a:solidFill>
                  <a:srgbClr val="CBD5E1"/>
                </a:solidFill>
              </a:rPr>
              <a:t>Overlays historical architectural phases directly onto modern weathered ruins.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F4B4B"/>
                </a:solidFill>
              </a:rPr>
              <a:t>Instant Translation: </a:t>
            </a:r>
            <a:r>
              <a:rPr b="0" sz="900">
                <a:solidFill>
                  <a:srgbClr val="CBD5E1"/>
                </a:solidFill>
              </a:rPr>
              <a:t>Real-time multilingual audio and text translation of ancient plaques and foreign signs.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Post-Trip &amp; Conservation</a:t>
            </a:r>
          </a:p>
          <a:p>
            <a:pPr>
              <a:spcAft>
                <a:spcPts val="400"/>
              </a:spcAft>
              <a:defRPr sz="819" b="1">
                <a:solidFill>
                  <a:srgbClr val="10B981"/>
                </a:solidFill>
              </a:defRPr>
            </a:pPr>
            <a:r>
              <a:t>PRESERVATION &amp; RECALL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Footfall Mitigation: </a:t>
            </a:r>
            <a:r>
              <a:rPr b="0" sz="900">
                <a:solidFill>
                  <a:srgbClr val="CBD5E1"/>
                </a:solidFill>
              </a:rPr>
              <a:t>Safeguards fragile ecological and historical sites (caves, reefs) from over-tourism.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Universal Access: </a:t>
            </a:r>
            <a:r>
              <a:rPr b="0" sz="900">
                <a:solidFill>
                  <a:srgbClr val="CBD5E1"/>
                </a:solidFill>
              </a:rPr>
              <a:t>Enables elderly, hospitalized, or mobility-impaired tourists to explore rugged peaks.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Digital Time-Capsules: </a:t>
            </a:r>
            <a:r>
              <a:rPr b="0" sz="900">
                <a:solidFill>
                  <a:srgbClr val="CBD5E1"/>
                </a:solidFill>
              </a:rPr>
              <a:t>Tourists revisit persistent spatial memories and interactive 3D travel albums.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05 | REAL-WORLD FIELD CASE STUDIES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Field Implementations: Mumbai &amp; Global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Operational deployments across historical landmarks, international transit hubs, and museums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6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107286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5_mumbai_gateway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7048"/>
            <a:ext cx="10692079" cy="20665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Gateway of India (Mumbai)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AR HERITAGE RECONSTRUCTION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Basalt Alignment: </a:t>
            </a:r>
            <a:r>
              <a:rPr b="0" sz="900">
                <a:solidFill>
                  <a:srgbClr val="CBD5E1"/>
                </a:solidFill>
              </a:rPr>
              <a:t>Georeferenced Visual Positioning System (VPS) anchors graphics to 1924 Indo-Saracenic masonry.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Living History: </a:t>
            </a:r>
            <a:r>
              <a:rPr b="0" sz="900">
                <a:solidFill>
                  <a:srgbClr val="CBD5E1"/>
                </a:solidFill>
              </a:rPr>
              <a:t>Dynamic overlays recreate the 1911 Royal Visit and the 1948 departure of British troops.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Spatial Audio HUD: </a:t>
            </a:r>
            <a:r>
              <a:rPr b="0" sz="900">
                <a:solidFill>
                  <a:srgbClr val="CBD5E1"/>
                </a:solidFill>
              </a:rPr>
              <a:t>Location-triggered multilingual audio narration synchronizes with visitor head direction.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CSMIA Mumbai Airport</a:t>
            </a:r>
          </a:p>
          <a:p>
            <a:pPr>
              <a:spcAft>
                <a:spcPts val="400"/>
              </a:spcAft>
              <a:defRPr sz="819" b="1">
                <a:solidFill>
                  <a:srgbClr val="F59E0B"/>
                </a:solidFill>
              </a:defRPr>
            </a:pPr>
            <a:r>
              <a:t>SMART VPS INDOOR WAYFINDING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59E0B"/>
                </a:solidFill>
              </a:rPr>
              <a:t>Indoor GPS Solution: </a:t>
            </a:r>
            <a:r>
              <a:rPr b="0" sz="900">
                <a:solidFill>
                  <a:srgbClr val="CBD5E1"/>
                </a:solidFill>
              </a:rPr>
              <a:t>Bypasses concrete signal attenuation using ceiling camera visual landmark matching.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59E0B"/>
                </a:solidFill>
              </a:rPr>
              <a:t>Turn-by-Turn Paths: </a:t>
            </a:r>
            <a:r>
              <a:rPr b="0" sz="900">
                <a:solidFill>
                  <a:srgbClr val="CBD5E1"/>
                </a:solidFill>
              </a:rPr>
              <a:t>Floating holographic arrows guide passengers directly to departure gates and baggage belts.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59E0B"/>
                </a:solidFill>
              </a:rPr>
              <a:t>Dynamic Transit HUD: </a:t>
            </a:r>
            <a:r>
              <a:rPr b="0" sz="900">
                <a:solidFill>
                  <a:srgbClr val="CBD5E1"/>
                </a:solidFill>
              </a:rPr>
              <a:t>Real-time gate changes, boarding countdowns, and lounge proximity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Virtual Louvre &amp; British Museum</a:t>
            </a:r>
          </a:p>
          <a:p>
            <a:pPr>
              <a:spcAft>
                <a:spcPts val="400"/>
              </a:spcAft>
              <a:defRPr sz="819" b="1">
                <a:solidFill>
                  <a:srgbClr val="10B981"/>
                </a:solidFill>
              </a:defRPr>
            </a:pPr>
            <a:r>
              <a:t>GLOBAL 6DOF REMOTE GALLERIES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Photogrammetric Twins: </a:t>
            </a:r>
            <a:r>
              <a:rPr b="0" sz="900">
                <a:solidFill>
                  <a:srgbClr val="CBD5E1"/>
                </a:solidFill>
              </a:rPr>
              <a:t>Sub-millimeter 3D scans of fragile masterpieces (Mona Lisa, Rosetta Stone).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Crowd-Free Access: </a:t>
            </a:r>
            <a:r>
              <a:rPr b="0" sz="900">
                <a:solidFill>
                  <a:srgbClr val="CBD5E1"/>
                </a:solidFill>
              </a:rPr>
              <a:t>Millions explore virtual galleries in 6DoF without physical queuing or travel cost.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Microscopic Inspection: </a:t>
            </a:r>
            <a:r>
              <a:rPr b="0" sz="900">
                <a:solidFill>
                  <a:srgbClr val="CBD5E1"/>
                </a:solidFill>
              </a:rPr>
              <a:t>Visitors inspect microscopic brushstrokes and hidden inscriptions up close.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06 | COMPARATIVE ARCHITECTURAL MATRIX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Evaluation: Augmented Reality vs.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Multi-dimensional benchmark across optics, compute, situational safety, and tourism utility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7 of 12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1508760"/>
          <a:ext cx="6309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2377440"/>
              </a:tblGrid>
              <a:tr h="679268">
                <a:tc>
                  <a:txBody>
                    <a:bodyPr wrap="square" tIns="73152" bIns="73152" lIns="109728" rIns="109728"/>
                    <a:lstStyle/>
                    <a:p>
                      <a:pPr>
                        <a:defRPr b="1" sz="1000">
                          <a:solidFill>
                            <a:srgbClr val="00D2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E38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b="1" sz="1000">
                          <a:solidFill>
                            <a:srgbClr val="00D2FF"/>
                          </a:solidFill>
                        </a:defRPr>
                      </a:pPr>
                      <a:r>
                        <a:t>Augmented Reality (AR)</a:t>
                      </a:r>
                    </a:p>
                  </a:txBody>
                  <a:tcPr>
                    <a:solidFill>
                      <a:srgbClr val="0F1E38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b="1" sz="1000">
                          <a:solidFill>
                            <a:srgbClr val="FF4B4B"/>
                          </a:solidFill>
                        </a:defRPr>
                      </a:pPr>
                      <a:r>
                        <a:t>Virtual Reality (VR)</a:t>
                      </a:r>
                    </a:p>
                  </a:txBody>
                  <a:tcPr>
                    <a:solidFill>
                      <a:srgbClr val="0F1E38"/>
                    </a:solidFill>
                  </a:tcPr>
                </a:tc>
              </a:tr>
              <a:tr h="679268"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Display Mechanism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Optical/Video Waveguide Passthrough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Stereoscopic Dual-Pancake Immersive HMD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679268"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Environment Awareness</a:t>
                      </a:r>
                    </a:p>
                  </a:txBody>
                  <a:tcPr>
                    <a:solidFill>
                      <a:srgbClr val="0E1423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100% Direct real-world vision &amp; safety</a:t>
                      </a:r>
                    </a:p>
                  </a:txBody>
                  <a:tcPr>
                    <a:solidFill>
                      <a:srgbClr val="0E1423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0% Isolated synthetic 3D environment</a:t>
                      </a:r>
                    </a:p>
                  </a:txBody>
                  <a:tcPr>
                    <a:solidFill>
                      <a:srgbClr val="0E1423"/>
                    </a:solidFill>
                  </a:tcPr>
                </a:tc>
              </a:tr>
              <a:tr h="679268"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Mobility &amp; Weight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Ultra-lightweight glasses (50–80g)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Dedicated compute headset (450–600g)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679268"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Primary Tourism Role</a:t>
                      </a:r>
                    </a:p>
                  </a:txBody>
                  <a:tcPr>
                    <a:solidFill>
                      <a:srgbClr val="0E1423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On-site navigation &amp; living heritage HUD</a:t>
                      </a:r>
                    </a:p>
                  </a:txBody>
                  <a:tcPr>
                    <a:solidFill>
                      <a:srgbClr val="0E1423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Remote pre-trip exploration &amp; walkthroughs</a:t>
                      </a:r>
                    </a:p>
                  </a:txBody>
                  <a:tcPr>
                    <a:solidFill>
                      <a:srgbClr val="0E1423"/>
                    </a:solidFill>
                  </a:tcPr>
                </a:tc>
              </a:tr>
              <a:tr h="679268"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Critical Bottleneck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Sunlight glare (&gt;10,000 nits required)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Cybersickness &amp; VAC optical fatigue</a:t>
                      </a:r>
                    </a:p>
                  </a:txBody>
                  <a:tcPr>
                    <a:solidFill>
                      <a:srgbClr val="121A2C"/>
                    </a:solidFill>
                  </a:tcPr>
                </a:tc>
              </a:tr>
              <a:tr h="679272"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Compute Architecture</a:t>
                      </a:r>
                    </a:p>
                  </a:txBody>
                  <a:tcPr>
                    <a:solidFill>
                      <a:srgbClr val="0E1423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5G MEC distributed split edge rendering</a:t>
                      </a:r>
                    </a:p>
                  </a:txBody>
                  <a:tcPr>
                    <a:solidFill>
                      <a:srgbClr val="0E1423"/>
                    </a:solidFill>
                  </a:tcPr>
                </a:tc>
                <a:tc>
                  <a:txBody>
                    <a:bodyPr wrap="square" tIns="73152" bIns="73152" lIns="109728" rIns="109728"/>
                    <a:lstStyle/>
                    <a:p>
                      <a:pPr>
                        <a:defRPr sz="880">
                          <a:solidFill>
                            <a:srgbClr val="CBD5E1"/>
                          </a:solidFill>
                        </a:defRPr>
                      </a:pPr>
                      <a:r>
                        <a:t>On-device embedded or PC-tethered GPU</a:t>
                      </a:r>
                    </a:p>
                  </a:txBody>
                  <a:tcPr>
                    <a:solidFill>
                      <a:srgbClr val="0E1423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223760" y="1508760"/>
            <a:ext cx="4236415" cy="333756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6_rada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527048"/>
            <a:ext cx="4199839" cy="330098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223760" y="4983480"/>
            <a:ext cx="4236415" cy="128016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000" b="1">
                <a:solidFill>
                  <a:srgbClr val="00D2FF"/>
                </a:solidFill>
              </a:defRPr>
            </a:pPr>
            <a:r>
              <a:t>EMPIRICAL BENCHMARK SUMMARY</a:t>
            </a:r>
          </a:p>
          <a:p>
            <a:pPr>
              <a:defRPr sz="880">
                <a:solidFill>
                  <a:srgbClr val="CBD5E1"/>
                </a:solidFill>
              </a:defRPr>
            </a:pPr>
            <a:r>
              <a:t>• AR achieves maximum Mobility (0.95) and Environmental Interaction (0.95) for on-site navigation.</a:t>
            </a:r>
            <a:br/>
            <a:r>
              <a:t>• VR dominates in Sensory Immersion (0.98) and Conservation (0.92) for remote destination teleportation.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07 | CHALLENGES &amp; ENGINEERING MITIGATION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Overcoming Technical Hurdles in XR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Addressing latency boundaries, outdoor luminance, thermal limits, and spatial privacy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8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107286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7_latency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7048"/>
            <a:ext cx="10692079" cy="20665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20ms Latency &amp; Cybersickness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VESTIBULAR-OCULAR SYNCHRONY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F4B4B"/>
                </a:solidFill>
              </a:rPr>
              <a:t>Engineering Problem: </a:t>
            </a:r>
            <a:r>
              <a:rPr b="0" sz="900">
                <a:solidFill>
                  <a:srgbClr val="CBD5E1"/>
                </a:solidFill>
              </a:rPr>
              <a:t>M2P latency &gt;20ms creates sensory lag, triggering vestibular nausea and disorientation.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F4B4B"/>
                </a:solidFill>
              </a:rPr>
              <a:t>Predictive Tracking: </a:t>
            </a:r>
            <a:r>
              <a:rPr b="0" sz="900">
                <a:solidFill>
                  <a:srgbClr val="CBD5E1"/>
                </a:solidFill>
              </a:rPr>
              <a:t>1000 Hz IMU Kalman filtering anticipates head movement 15ms into the future.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F4B4B"/>
                </a:solidFill>
              </a:rPr>
              <a:t>Asynchronous TimeWarp: </a:t>
            </a:r>
            <a:r>
              <a:rPr b="0" sz="900">
                <a:solidFill>
                  <a:srgbClr val="CBD5E1"/>
                </a:solidFill>
              </a:rPr>
              <a:t>Warps rendered video frames on the display scanline to eliminate residual lag.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Outdoor Sunlight &amp; Thermals</a:t>
            </a:r>
          </a:p>
          <a:p>
            <a:pPr>
              <a:spcAft>
                <a:spcPts val="400"/>
              </a:spcAft>
              <a:defRPr sz="819" b="1">
                <a:solidFill>
                  <a:srgbClr val="F59E0B"/>
                </a:solidFill>
              </a:defRPr>
            </a:pPr>
            <a:r>
              <a:t>OPTICAL CONTRAST &amp; DISSIPATION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59E0B"/>
                </a:solidFill>
              </a:rPr>
              <a:t>Engineering Problem: </a:t>
            </a:r>
            <a:r>
              <a:rPr b="0" sz="900">
                <a:solidFill>
                  <a:srgbClr val="CBD5E1"/>
                </a:solidFill>
              </a:rPr>
              <a:t>Tropical sunlight (100,000 lux) washes out holographic waveguides; heat limits compute.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59E0B"/>
                </a:solidFill>
              </a:rPr>
              <a:t>Electrochromic Dimming: </a:t>
            </a:r>
            <a:r>
              <a:rPr b="0" sz="900">
                <a:solidFill>
                  <a:srgbClr val="CBD5E1"/>
                </a:solidFill>
              </a:rPr>
              <a:t>Smart lenses tint automatically to maintain &gt;1000:1 contrast outdoors.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59E0B"/>
                </a:solidFill>
              </a:rPr>
              <a:t>Micro-LED Optics: </a:t>
            </a:r>
            <a:r>
              <a:rPr b="0" sz="900">
                <a:solidFill>
                  <a:srgbClr val="CBD5E1"/>
                </a:solidFill>
              </a:rPr>
              <a:t>Next-gen Micro-LED arrays deliver &gt;5,000 nits with split compute pucks.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Spatial Privacy &amp; Security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DATA PROTECTION &amp; ETHICS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Engineering Problem: </a:t>
            </a:r>
            <a:r>
              <a:rPr b="0" sz="900">
                <a:solidFill>
                  <a:srgbClr val="CBD5E1"/>
                </a:solidFill>
              </a:rPr>
              <a:t>Always-on camera feeds risk capturing bystanders and secure airport areas.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Edge Feature Hashing: </a:t>
            </a:r>
            <a:r>
              <a:rPr b="0" sz="900">
                <a:solidFill>
                  <a:srgbClr val="CBD5E1"/>
                </a:solidFill>
              </a:rPr>
              <a:t>Raw video is converted to mathematical hashes locally; image buffers are discarded.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Geofenced Blackouts: </a:t>
            </a:r>
            <a:r>
              <a:rPr b="0" sz="900">
                <a:solidFill>
                  <a:srgbClr val="CBD5E1"/>
                </a:solidFill>
              </a:rPr>
              <a:t>Automated camera masking around sensitive security and cultural zones.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08 | DISTRIBUTED SYSTEM TOPOLOGY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Cloud-XR Architecture for Scalable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Decoupling lightweight spatial glasses from heavy GPU rendering via 5G MEC edge nodes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9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107286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3_cloud_xr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7048"/>
            <a:ext cx="10692079" cy="20665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3794760"/>
            <a:ext cx="251460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Tier 1: Client Tracking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LOCAL POSE &amp; TELEMETRY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Low-Power VI-SLAM: </a:t>
            </a:r>
            <a:r>
              <a:rPr b="0" sz="880">
                <a:solidFill>
                  <a:srgbClr val="CBD5E1"/>
                </a:solidFill>
              </a:rPr>
              <a:t>Executes 6DoF tracking locally on lightweight smart glasses.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Gaze Tracking: </a:t>
            </a:r>
            <a:r>
              <a:rPr b="0" sz="880">
                <a:solidFill>
                  <a:srgbClr val="CBD5E1"/>
                </a:solidFill>
              </a:rPr>
              <a:t>Eye sensors detect focus regions for dynamic foveated compression.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1000 Hz Pose Stream: </a:t>
            </a:r>
            <a:r>
              <a:rPr b="0" sz="880">
                <a:solidFill>
                  <a:srgbClr val="CBD5E1"/>
                </a:solidFill>
              </a:rPr>
              <a:t>Sends compressed orientation packets over 5G.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3794760"/>
            <a:ext cx="251460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Tier 2: 5G URLLC Network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ULTRA-LOW TRANSPORT LAG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&lt;5ms Latency: </a:t>
            </a:r>
            <a:r>
              <a:rPr b="0" sz="880">
                <a:solidFill>
                  <a:srgbClr val="CBD5E1"/>
                </a:solidFill>
              </a:rPr>
              <a:t>5G mmWave URLLC guarantees near-zero transmission jitter.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&gt;100 Mbps Bandwidth: </a:t>
            </a:r>
            <a:r>
              <a:rPr b="0" sz="880">
                <a:solidFill>
                  <a:srgbClr val="CBD5E1"/>
                </a:solidFill>
              </a:rPr>
              <a:t>High uplink supports continuous spatial point cloud telemetry.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Dedicated QoS Slices: </a:t>
            </a:r>
            <a:r>
              <a:rPr b="0" sz="880">
                <a:solidFill>
                  <a:srgbClr val="CBD5E1"/>
                </a:solidFill>
              </a:rPr>
              <a:t>Guarantees packet priority during crowded tourism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94760"/>
            <a:ext cx="251460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Tier 3: MEC Edge GPUs</a:t>
            </a:r>
          </a:p>
          <a:p>
            <a:pPr>
              <a:spcAft>
                <a:spcPts val="400"/>
              </a:spcAft>
              <a:defRPr sz="819" b="1">
                <a:solidFill>
                  <a:srgbClr val="F59E0B"/>
                </a:solidFill>
              </a:defRPr>
            </a:pPr>
            <a:r>
              <a:t>HIGH-POLYMER RADIANCE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59E0B"/>
                </a:solidFill>
              </a:rPr>
              <a:t>Photorealistic Compute: </a:t>
            </a:r>
            <a:r>
              <a:rPr b="0" sz="880">
                <a:solidFill>
                  <a:srgbClr val="CBD5E1"/>
                </a:solidFill>
              </a:rPr>
              <a:t>Renders 100M+ Gaussian splats and dynamic volumetric lighting.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59E0B"/>
                </a:solidFill>
              </a:rPr>
              <a:t>Foveated Rendering: </a:t>
            </a:r>
            <a:r>
              <a:rPr b="0" sz="880">
                <a:solidFill>
                  <a:srgbClr val="CBD5E1"/>
                </a:solidFill>
              </a:rPr>
              <a:t>Focuses compute on user fovea, cutting rendering load by 60%.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59E0B"/>
                </a:solidFill>
              </a:rPr>
              <a:t>Hardware Encoders: </a:t>
            </a:r>
            <a:r>
              <a:rPr b="0" sz="880">
                <a:solidFill>
                  <a:srgbClr val="CBD5E1"/>
                </a:solidFill>
              </a:rPr>
              <a:t>Encodes AV1/H.265 video frames in under 4ms.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3794760"/>
            <a:ext cx="251460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Tier 4: Client Reprojection</a:t>
            </a:r>
          </a:p>
          <a:p>
            <a:pPr>
              <a:spcAft>
                <a:spcPts val="400"/>
              </a:spcAft>
              <a:defRPr sz="819" b="1">
                <a:solidFill>
                  <a:srgbClr val="10B981"/>
                </a:solidFill>
              </a:defRPr>
            </a:pPr>
            <a:r>
              <a:t>JITTER NULLIFICATION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Delta Pose Shift: </a:t>
            </a:r>
            <a:r>
              <a:rPr b="0" sz="880">
                <a:solidFill>
                  <a:srgbClr val="CBD5E1"/>
                </a:solidFill>
              </a:rPr>
              <a:t>Re-projects incoming frames based on head movement during transit.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Zero Perceived Lag: </a:t>
            </a:r>
            <a:r>
              <a:rPr b="0" sz="880">
                <a:solidFill>
                  <a:srgbClr val="CBD5E1"/>
                </a:solidFill>
              </a:rPr>
              <a:t>Presenter and tourists experience smooth 120 FPS visual flow.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Extended Battery Life: </a:t>
            </a:r>
            <a:r>
              <a:rPr b="0" sz="880">
                <a:solidFill>
                  <a:srgbClr val="CBD5E1"/>
                </a:solidFill>
              </a:rPr>
              <a:t>Offloading graphics compute extends device battery to 8+ hours.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09 | FUTURE SCOPE &amp; EMERGING PARADIGMS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Emerging Frontiers: GenAI &amp; Spatial Web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The convergence of Vision-Language Models, spatial audio synthesis, and digital twins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10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1072865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9_genai_spatia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7048"/>
            <a:ext cx="10692079" cy="20665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Multimodal GenAI Guides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CONVERSATIONAL AGENTS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Vision-Language Models: </a:t>
            </a:r>
            <a:r>
              <a:rPr b="0" sz="900">
                <a:solidFill>
                  <a:srgbClr val="CBD5E1"/>
                </a:solidFill>
              </a:rPr>
              <a:t>On-device camera feeds identify architectural styles, paintings, and sculptures.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Spatial RAG Intelligence: </a:t>
            </a:r>
            <a:r>
              <a:rPr b="0" sz="900">
                <a:solidFill>
                  <a:srgbClr val="CBD5E1"/>
                </a:solidFill>
              </a:rPr>
              <a:t>Retrieves verified historical records, folklore, and structural blueprints dynamically.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D2FF"/>
                </a:solidFill>
              </a:rPr>
              <a:t>Embodied Avatars: </a:t>
            </a:r>
            <a:r>
              <a:rPr b="0" sz="900">
                <a:solidFill>
                  <a:srgbClr val="CBD5E1"/>
                </a:solidFill>
              </a:rPr>
              <a:t>Guides converse naturally in any language, adopting historical personas (e.g., King Ashoka).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Ultrasonic Haptics &amp; Audio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TACTILE &amp; ACOUSTIC IMMERSION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F4B4B"/>
                </a:solidFill>
              </a:rPr>
              <a:t>Mid-Air Acoustic Haptics: </a:t>
            </a:r>
            <a:r>
              <a:rPr b="0" sz="900">
                <a:solidFill>
                  <a:srgbClr val="CBD5E1"/>
                </a:solidFill>
              </a:rPr>
              <a:t>Phased ultrasonic arrays create focal pressure points, letting users 'feel' stone textures.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F4B4B"/>
                </a:solidFill>
              </a:rPr>
              <a:t>Spatial Acoustic Reverb: </a:t>
            </a:r>
            <a:r>
              <a:rPr b="0" sz="900">
                <a:solidFill>
                  <a:srgbClr val="CBD5E1"/>
                </a:solidFill>
              </a:rPr>
              <a:t>Ray-traced HRTF filters reproduce the true acoustic echo of ancient cathedrals.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FF4B4B"/>
                </a:solidFill>
              </a:rPr>
              <a:t>Sensory Teleportation: </a:t>
            </a:r>
            <a:r>
              <a:rPr b="0" sz="900">
                <a:solidFill>
                  <a:srgbClr val="CBD5E1"/>
                </a:solidFill>
              </a:rPr>
              <a:t>Combines photorealism with touch and 3D sound for total sensory immersion.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794760"/>
            <a:ext cx="3337560" cy="25146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50" b="1">
                <a:solidFill>
                  <a:srgbClr val="FFFFFF"/>
                </a:solidFill>
              </a:defRPr>
            </a:pPr>
            <a:r>
              <a:t>Metaverse Twin Cities</a:t>
            </a:r>
          </a:p>
          <a:p>
            <a:pPr>
              <a:spcAft>
                <a:spcPts val="400"/>
              </a:spcAft>
              <a:defRPr sz="819" b="1">
                <a:solidFill>
                  <a:srgbClr val="10B981"/>
                </a:solidFill>
              </a:defRPr>
            </a:pPr>
            <a:r>
              <a:t>PERSISTENT SPATIAL WEB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Photorealistic Twin Cities: </a:t>
            </a:r>
            <a:r>
              <a:rPr b="0" sz="900">
                <a:solidFill>
                  <a:srgbClr val="CBD5E1"/>
                </a:solidFill>
              </a:rPr>
              <a:t>Continuous 3DGS scans maintain 1:1 synchronized digital replicas of global cities.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Persistent Spatial Souvenirs: </a:t>
            </a:r>
            <a:r>
              <a:rPr b="0" sz="900">
                <a:solidFill>
                  <a:srgbClr val="CBD5E1"/>
                </a:solidFill>
              </a:rPr>
              <a:t>Tourists leave holographic notes, art, and time capsules anchored in real coordinates.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0B981"/>
                </a:solidFill>
              </a:rPr>
              <a:t>Collaborative Travel: </a:t>
            </a:r>
            <a:r>
              <a:rPr b="0" sz="900">
                <a:solidFill>
                  <a:srgbClr val="CBD5E1"/>
                </a:solidFill>
              </a:rPr>
              <a:t>Friends across the globe meet and explore historical sites together in real time.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10 | PROJECT GOVERNANCE &amp; RESPONSIBILITY MATRIX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Team Structure &amp; Technical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Academic Seminar A3 Group 2 | Department of Computer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11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3337560" cy="20574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Soham Jadhav (25CE1047)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SYSTEM ARCHITECTURE &amp; CLOUD-XR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Core Domain: </a:t>
            </a:r>
            <a:r>
              <a:rPr b="0" sz="880">
                <a:solidFill>
                  <a:srgbClr val="CBD5E1"/>
                </a:solidFill>
              </a:rPr>
              <a:t>5G MEC split-rendering pipeline, network topologies, and latency budget modeling.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Primary Output: </a:t>
            </a:r>
            <a:r>
              <a:rPr b="0" sz="880">
                <a:solidFill>
                  <a:srgbClr val="CBD5E1"/>
                </a:solidFill>
              </a:rPr>
              <a:t>End-to-end Cloud-XR architecture design, system integration, and presentation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508760"/>
            <a:ext cx="3337560" cy="20574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Prachi Jaiswal (25CE1048)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COMPUTER VISION &amp; VI-SLAM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Core Domain: </a:t>
            </a:r>
            <a:r>
              <a:rPr b="0" sz="880">
                <a:solidFill>
                  <a:srgbClr val="CBD5E1"/>
                </a:solidFill>
              </a:rPr>
              <a:t>6DoF pose estimation, Extended Kalman Filtering, and multi-sensor fusion algorithms.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Primary Output: </a:t>
            </a:r>
            <a:r>
              <a:rPr b="0" sz="880">
                <a:solidFill>
                  <a:srgbClr val="CBD5E1"/>
                </a:solidFill>
              </a:rPr>
              <a:t>Visual Odometry pipeline, loop closure algorithms, and sensor drift compensation.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508760"/>
            <a:ext cx="3337560" cy="20574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Soham Jangid (25CE1049)</a:t>
            </a:r>
          </a:p>
          <a:p>
            <a:pPr>
              <a:spcAft>
                <a:spcPts val="400"/>
              </a:spcAft>
              <a:defRPr sz="819" b="1">
                <a:solidFill>
                  <a:srgbClr val="F59E0B"/>
                </a:solidFill>
              </a:defRPr>
            </a:pPr>
            <a:r>
              <a:t>3D GAUSSIAN SPLATTING &amp; MODELING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59E0B"/>
                </a:solidFill>
              </a:rPr>
              <a:t>Core Domain: </a:t>
            </a:r>
            <a:r>
              <a:rPr b="0" sz="880">
                <a:solidFill>
                  <a:srgbClr val="CBD5E1"/>
                </a:solidFill>
              </a:rPr>
              <a:t>Radiance field reconstruction, 3DGS vs. NeRF benchmarks, and heritage asset optimization.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59E0B"/>
                </a:solidFill>
              </a:rPr>
              <a:t>Primary Output: </a:t>
            </a:r>
            <a:r>
              <a:rPr b="0" sz="880">
                <a:solidFill>
                  <a:srgbClr val="CBD5E1"/>
                </a:solidFill>
              </a:rPr>
              <a:t>High-fidelity photogrammetric capture pipeline and real-time rasterization study.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337560" cy="20574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Somnath Jha (25CE1050)</a:t>
            </a:r>
          </a:p>
          <a:p>
            <a:pPr>
              <a:spcAft>
                <a:spcPts val="400"/>
              </a:spcAft>
              <a:defRPr sz="819" b="1">
                <a:solidFill>
                  <a:srgbClr val="10B981"/>
                </a:solidFill>
              </a:defRPr>
            </a:pPr>
            <a:r>
              <a:t>SPATIAL UI/UX &amp; CYBERSICKNESS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Core Domain: </a:t>
            </a:r>
            <a:r>
              <a:rPr b="0" sz="880">
                <a:solidFill>
                  <a:srgbClr val="CBD5E1"/>
                </a:solidFill>
              </a:rPr>
              <a:t>Motion-to-photon latency benchmarks, vergence-accommodation conflict mitigation.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Primary Output: </a:t>
            </a:r>
            <a:r>
              <a:rPr b="0" sz="880">
                <a:solidFill>
                  <a:srgbClr val="CBD5E1"/>
                </a:solidFill>
              </a:rPr>
              <a:t>Ergonomic spatial UI evaluation, user comfort heuristics, and accessibility guidelines.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3749039"/>
            <a:ext cx="3337560" cy="20574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Asmit Jogdand (25CE1051)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FIELD CASE STUDIES &amp; MUMBAI VPS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Core Domain: </a:t>
            </a:r>
            <a:r>
              <a:rPr b="0" sz="880">
                <a:solidFill>
                  <a:srgbClr val="CBD5E1"/>
                </a:solidFill>
              </a:rPr>
              <a:t>Empirical field studies: Gateway of India AR overlay and CSMIA airport wayfinding.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Primary Output: </a:t>
            </a:r>
            <a:r>
              <a:rPr b="0" sz="880">
                <a:solidFill>
                  <a:srgbClr val="CBD5E1"/>
                </a:solidFill>
              </a:rPr>
              <a:t>Georeferenced VPS localization analysis and urban tourism deployment heuristics.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3749039"/>
            <a:ext cx="3337560" cy="205740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Om Kirdat (25CE1053)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GENAI ARCHITECTURE &amp; FUTURE SCOPE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Core Domain: </a:t>
            </a:r>
            <a:r>
              <a:rPr b="0" sz="880">
                <a:solidFill>
                  <a:srgbClr val="CBD5E1"/>
                </a:solidFill>
              </a:rPr>
              <a:t>Multimodal LLM tour guides, spatial RAG architectures, and Spatial Web 3.0.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Primary Output: </a:t>
            </a:r>
            <a:r>
              <a:rPr b="0" sz="880">
                <a:solidFill>
                  <a:srgbClr val="CBD5E1"/>
                </a:solidFill>
              </a:rPr>
              <a:t>Generative AI conversational pipeline, edge privacy safeguards, and ethics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97880"/>
            <a:ext cx="10728655" cy="43891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Under the Guidance of: Mrs. Nisha Narwani (Assistant Professor)   |   Head of Department: Dr. Amarsinh V. Vidhate (Professor &amp; HOD)</a:t>
            </a:r>
          </a:p>
          <a:p>
            <a:pPr algn="ctr">
              <a:defRPr sz="850">
                <a:solidFill>
                  <a:srgbClr val="00D2FF"/>
                </a:solidFill>
              </a:defRPr>
            </a:pPr>
            <a:r>
              <a:t>Department of Computer Engineering, Ramrao Adik Institute of Technology (RAIT), D Y Patil Deemed to be University, Navi Mumbai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5603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109728"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t>11 | SYNTHESIS &amp; CONCLUDING VISION</a:t>
            </a:r>
          </a:p>
        </p:txBody>
      </p:sp>
      <p:pic>
        <p:nvPicPr>
          <p:cNvPr id="4" name="Picture 3" descr="crest_shield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292608"/>
            <a:ext cx="384048" cy="53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Interactive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Key architectural takeaways, societal impact, and open question forum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20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5029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BEC Technical Seminar | Dept. of Computer Engineering, RAIT, D Y Patil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3200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A3 Group 2 |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73952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D2FF"/>
                </a:solidFill>
              </a:defRPr>
            </a:pPr>
            <a:r>
              <a:t>Slide 12 of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08760"/>
            <a:ext cx="3337560" cy="210312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Experiential Paradigm Shift</a:t>
            </a:r>
          </a:p>
          <a:p>
            <a:pPr>
              <a:spcAft>
                <a:spcPts val="400"/>
              </a:spcAft>
              <a:defRPr sz="819" b="1">
                <a:solidFill>
                  <a:srgbClr val="00D2FF"/>
                </a:solidFill>
              </a:defRPr>
            </a:pPr>
            <a:r>
              <a:t>ACTIVE 6DOF ENGAGEMENT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Transformation: </a:t>
            </a:r>
            <a:r>
              <a:rPr b="0" sz="880">
                <a:solidFill>
                  <a:srgbClr val="CBD5E1"/>
                </a:solidFill>
              </a:rPr>
              <a:t>XR shifts tourism from passive visual viewing to active, participatory 6DoF spatial exploration.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00D2FF"/>
                </a:solidFill>
              </a:rPr>
              <a:t>Contextual Depth: </a:t>
            </a:r>
            <a:r>
              <a:rPr b="0" sz="880">
                <a:solidFill>
                  <a:srgbClr val="CBD5E1"/>
                </a:solidFill>
              </a:rPr>
              <a:t>Living temporal reconstructions revive forgotten civilizations with accurate architectural layers.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508760"/>
            <a:ext cx="3337560" cy="210312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Engineering Viability</a:t>
            </a:r>
          </a:p>
          <a:p>
            <a:pPr>
              <a:spcAft>
                <a:spcPts val="400"/>
              </a:spcAft>
              <a:defRPr sz="819" b="1">
                <a:solidFill>
                  <a:srgbClr val="FF4B4B"/>
                </a:solidFill>
              </a:defRPr>
            </a:pPr>
            <a:r>
              <a:t>CLOUD-XR CONVERGENCE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Overcoming Limits: </a:t>
            </a:r>
            <a:r>
              <a:rPr b="0" sz="880">
                <a:solidFill>
                  <a:srgbClr val="CBD5E1"/>
                </a:solidFill>
              </a:rPr>
              <a:t>5G MEC, 3D Gaussian Splatting, and low-power VI-SLAM conquer mobile compute barriers.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FF4B4B"/>
                </a:solidFill>
              </a:rPr>
              <a:t>Wearable Future: </a:t>
            </a:r>
            <a:r>
              <a:rPr b="0" sz="880">
                <a:solidFill>
                  <a:srgbClr val="CBD5E1"/>
                </a:solidFill>
              </a:rPr>
              <a:t>Enables sleek all-day smart eyewear with all-day battery life and zero thermal lag.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508760"/>
            <a:ext cx="3337560" cy="2103120"/>
          </a:xfrm>
          <a:prstGeom prst="roundRect">
            <a:avLst/>
          </a:prstGeom>
          <a:solidFill>
            <a:srgbClr val="121A2C"/>
          </a:solidFill>
          <a:ln w="15240">
            <a:solidFill>
              <a:srgbClr val="202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" bIns="91440" lIns="146304" rIns="146304"/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Sustainable Preservation</a:t>
            </a:r>
          </a:p>
          <a:p>
            <a:pPr>
              <a:spcAft>
                <a:spcPts val="400"/>
              </a:spcAft>
              <a:defRPr sz="819" b="1">
                <a:solidFill>
                  <a:srgbClr val="10B981"/>
                </a:solidFill>
              </a:defRPr>
            </a:pPr>
            <a:r>
              <a:t>ECO-CONSERVATION &amp; EQUITY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Monument Protection: </a:t>
            </a:r>
            <a:r>
              <a:rPr b="0" sz="880">
                <a:solidFill>
                  <a:srgbClr val="CBD5E1"/>
                </a:solidFill>
              </a:rPr>
              <a:t>Virtual twins shield fragile world heritage monuments from physical degradation.</a:t>
            </a:r>
          </a:p>
          <a:p>
            <a:pPr>
              <a:spcAft>
                <a:spcPts val="300"/>
              </a:spcAft>
            </a:pPr>
            <a:r>
              <a:rPr b="1" sz="880">
                <a:solidFill>
                  <a:srgbClr val="10B981"/>
                </a:solidFill>
              </a:rPr>
              <a:t>Global Inclusion: </a:t>
            </a:r>
            <a:r>
              <a:rPr b="0" sz="880">
                <a:solidFill>
                  <a:srgbClr val="CBD5E1"/>
                </a:solidFill>
              </a:rPr>
              <a:t>Democratizes educational and cultural travel for people with mobility impairments.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10728655" cy="2468880"/>
          </a:xfrm>
          <a:prstGeom prst="roundRect">
            <a:avLst/>
          </a:prstGeom>
          <a:solidFill>
            <a:srgbClr val="121A2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65760" rIns="365760"/>
          <a:lstStyle/>
          <a:p>
            <a:pPr algn="ctr">
              <a:spcAft>
                <a:spcPts val="1200"/>
              </a:spcAft>
              <a:defRPr sz="1800" b="1" i="1">
                <a:solidFill>
                  <a:srgbClr val="FFFFFF"/>
                </a:solidFill>
              </a:defRPr>
            </a:pPr>
            <a:r>
              <a:t>“The future of tourism is not just about visiting places — it is about experiencing them.”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00D2FF"/>
                </a:solidFill>
              </a:defRPr>
            </a:pPr>
            <a:r>
              <a:t>Thank you for attending our technical seminar on AR &amp; VR in Tourism.</a:t>
            </a:r>
          </a:p>
          <a:p>
            <a:pPr algn="ctr">
              <a:spcAft>
                <a:spcPts val="1200"/>
              </a:spcAft>
              <a:defRPr sz="1150">
                <a:solidFill>
                  <a:srgbClr val="CBD5E1"/>
                </a:solidFill>
              </a:defRPr>
            </a:pPr>
            <a:r>
              <a:t>We warmly invite questions, architectural discussions, and feedback from faculty and peers.</a:t>
            </a:r>
          </a:p>
          <a:p>
            <a:pPr algn="ctr">
              <a:defRPr sz="1000" b="1">
                <a:solidFill>
                  <a:srgbClr val="FF4B4B"/>
                </a:solidFill>
              </a:defRPr>
            </a:pPr>
            <a:r>
              <a:t>Group A3 - 2  |  Department of Computer Engineering  |  Ramrao Adik Institute of Technology (RAIT), D Y Patil University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